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73" r:id="rId6"/>
    <p:sldId id="261" r:id="rId7"/>
    <p:sldId id="264" r:id="rId8"/>
    <p:sldId id="262" r:id="rId9"/>
    <p:sldId id="265" r:id="rId10"/>
    <p:sldId id="266" r:id="rId11"/>
    <p:sldId id="268" r:id="rId12"/>
    <p:sldId id="271" r:id="rId13"/>
    <p:sldId id="272" r:id="rId14"/>
    <p:sldId id="267" r:id="rId15"/>
    <p:sldId id="269" r:id="rId16"/>
    <p:sldId id="26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C83215-94D9-418B-B1E9-F5992C830F8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FC7D47-D611-44F3-B7AE-2414A20BCBF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Introduction</a:t>
          </a:r>
          <a:endParaRPr lang="en-US"/>
        </a:p>
      </dgm:t>
    </dgm:pt>
    <dgm:pt modelId="{535AD92B-FD74-4CA6-BB4A-3D3F0D365F03}" type="parTrans" cxnId="{C68D7118-98D5-4D4C-9BBA-50A3E3827B89}">
      <dgm:prSet/>
      <dgm:spPr/>
      <dgm:t>
        <a:bodyPr/>
        <a:lstStyle/>
        <a:p>
          <a:endParaRPr lang="en-US"/>
        </a:p>
      </dgm:t>
    </dgm:pt>
    <dgm:pt modelId="{7E49D96C-5BE4-46E4-98F6-DA88C726CDB2}" type="sibTrans" cxnId="{C68D7118-98D5-4D4C-9BBA-50A3E3827B89}">
      <dgm:prSet/>
      <dgm:spPr/>
      <dgm:t>
        <a:bodyPr/>
        <a:lstStyle/>
        <a:p>
          <a:endParaRPr lang="en-US"/>
        </a:p>
      </dgm:t>
    </dgm:pt>
    <dgm:pt modelId="{C55E4F30-C4B0-4DE8-A354-951C455C64E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Background and Literature review</a:t>
          </a:r>
          <a:endParaRPr lang="en-US"/>
        </a:p>
      </dgm:t>
    </dgm:pt>
    <dgm:pt modelId="{BFB4B4D1-6B44-425A-99EA-9F19DE626F2A}" type="parTrans" cxnId="{234FF752-5444-42BA-948D-6F2825CACD93}">
      <dgm:prSet/>
      <dgm:spPr/>
      <dgm:t>
        <a:bodyPr/>
        <a:lstStyle/>
        <a:p>
          <a:endParaRPr lang="en-US"/>
        </a:p>
      </dgm:t>
    </dgm:pt>
    <dgm:pt modelId="{045BC72F-CB56-4D9D-9A84-77823D7170A6}" type="sibTrans" cxnId="{234FF752-5444-42BA-948D-6F2825CACD93}">
      <dgm:prSet/>
      <dgm:spPr/>
      <dgm:t>
        <a:bodyPr/>
        <a:lstStyle/>
        <a:p>
          <a:endParaRPr lang="en-US"/>
        </a:p>
      </dgm:t>
    </dgm:pt>
    <dgm:pt modelId="{CDE8F819-32E8-4C16-B093-DAD1E0D2D6C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Approach</a:t>
          </a:r>
          <a:endParaRPr lang="en-US"/>
        </a:p>
      </dgm:t>
    </dgm:pt>
    <dgm:pt modelId="{649EEECE-78B0-4E44-ADCE-E3CB93F11CB8}" type="parTrans" cxnId="{581B1884-D94C-42F5-92FA-3EE807B53FB7}">
      <dgm:prSet/>
      <dgm:spPr/>
      <dgm:t>
        <a:bodyPr/>
        <a:lstStyle/>
        <a:p>
          <a:endParaRPr lang="en-US"/>
        </a:p>
      </dgm:t>
    </dgm:pt>
    <dgm:pt modelId="{4C9FF55E-2D4A-48B8-82E9-10484359E30E}" type="sibTrans" cxnId="{581B1884-D94C-42F5-92FA-3EE807B53FB7}">
      <dgm:prSet/>
      <dgm:spPr/>
      <dgm:t>
        <a:bodyPr/>
        <a:lstStyle/>
        <a:p>
          <a:endParaRPr lang="en-US"/>
        </a:p>
      </dgm:t>
    </dgm:pt>
    <dgm:pt modelId="{3A41E9E8-2142-4F2F-8020-E6264D1A4D1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Result and discussion</a:t>
          </a:r>
          <a:endParaRPr lang="en-US"/>
        </a:p>
      </dgm:t>
    </dgm:pt>
    <dgm:pt modelId="{F5362C8E-7C5F-4912-A198-6B3407C4BE2D}" type="parTrans" cxnId="{D0AA3BC7-6700-4B1A-9185-B702522030CD}">
      <dgm:prSet/>
      <dgm:spPr/>
      <dgm:t>
        <a:bodyPr/>
        <a:lstStyle/>
        <a:p>
          <a:endParaRPr lang="en-US"/>
        </a:p>
      </dgm:t>
    </dgm:pt>
    <dgm:pt modelId="{604B8B2D-0982-49F0-976F-4C06A76EE983}" type="sibTrans" cxnId="{D0AA3BC7-6700-4B1A-9185-B702522030CD}">
      <dgm:prSet/>
      <dgm:spPr/>
      <dgm:t>
        <a:bodyPr/>
        <a:lstStyle/>
        <a:p>
          <a:endParaRPr lang="en-US"/>
        </a:p>
      </dgm:t>
    </dgm:pt>
    <dgm:pt modelId="{2DA094DE-D360-488F-ADE7-D6122E95529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Conclusion</a:t>
          </a:r>
          <a:endParaRPr lang="en-US" dirty="0"/>
        </a:p>
      </dgm:t>
    </dgm:pt>
    <dgm:pt modelId="{4501F757-C7BE-4E40-B0D4-D6638E9F01C8}" type="parTrans" cxnId="{11EAACF0-4C32-4DC5-BDBA-5055CAADB23F}">
      <dgm:prSet/>
      <dgm:spPr/>
      <dgm:t>
        <a:bodyPr/>
        <a:lstStyle/>
        <a:p>
          <a:endParaRPr lang="en-US"/>
        </a:p>
      </dgm:t>
    </dgm:pt>
    <dgm:pt modelId="{BCB75D39-8759-4BCC-92E8-BEC5ABFC0F94}" type="sibTrans" cxnId="{11EAACF0-4C32-4DC5-BDBA-5055CAADB23F}">
      <dgm:prSet/>
      <dgm:spPr/>
      <dgm:t>
        <a:bodyPr/>
        <a:lstStyle/>
        <a:p>
          <a:endParaRPr lang="en-US"/>
        </a:p>
      </dgm:t>
    </dgm:pt>
    <dgm:pt modelId="{154F56B4-3E80-458B-A28A-E86504AB5E32}" type="pres">
      <dgm:prSet presAssocID="{85C83215-94D9-418B-B1E9-F5992C830F85}" presName="root" presStyleCnt="0">
        <dgm:presLayoutVars>
          <dgm:dir/>
          <dgm:resizeHandles val="exact"/>
        </dgm:presLayoutVars>
      </dgm:prSet>
      <dgm:spPr/>
    </dgm:pt>
    <dgm:pt modelId="{D4D8E1C4-1540-4C82-A908-5B05BC93CA49}" type="pres">
      <dgm:prSet presAssocID="{CDFC7D47-D611-44F3-B7AE-2414A20BCBF2}" presName="compNode" presStyleCnt="0"/>
      <dgm:spPr/>
    </dgm:pt>
    <dgm:pt modelId="{F150F26F-5C33-49D7-AB2A-E699CEC3AFE8}" type="pres">
      <dgm:prSet presAssocID="{CDFC7D47-D611-44F3-B7AE-2414A20BCBF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6E14EC97-AD68-4967-984F-3308DC53A0DA}" type="pres">
      <dgm:prSet presAssocID="{CDFC7D47-D611-44F3-B7AE-2414A20BCBF2}" presName="spaceRect" presStyleCnt="0"/>
      <dgm:spPr/>
    </dgm:pt>
    <dgm:pt modelId="{2D64CFA9-4A10-4191-8102-CF9648FE1729}" type="pres">
      <dgm:prSet presAssocID="{CDFC7D47-D611-44F3-B7AE-2414A20BCBF2}" presName="textRect" presStyleLbl="revTx" presStyleIdx="0" presStyleCnt="5">
        <dgm:presLayoutVars>
          <dgm:chMax val="1"/>
          <dgm:chPref val="1"/>
        </dgm:presLayoutVars>
      </dgm:prSet>
      <dgm:spPr/>
    </dgm:pt>
    <dgm:pt modelId="{9099291C-2BFA-4242-A947-1BA2599B2D0E}" type="pres">
      <dgm:prSet presAssocID="{7E49D96C-5BE4-46E4-98F6-DA88C726CDB2}" presName="sibTrans" presStyleCnt="0"/>
      <dgm:spPr/>
    </dgm:pt>
    <dgm:pt modelId="{A99785D7-5636-4B9B-A750-EF982B6DFBE0}" type="pres">
      <dgm:prSet presAssocID="{C55E4F30-C4B0-4DE8-A354-951C455C64E2}" presName="compNode" presStyleCnt="0"/>
      <dgm:spPr/>
    </dgm:pt>
    <dgm:pt modelId="{E7584DBF-21FA-4581-BC00-29F7C66F063B}" type="pres">
      <dgm:prSet presAssocID="{C55E4F30-C4B0-4DE8-A354-951C455C64E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bric Report Library"/>
        </a:ext>
      </dgm:extLst>
    </dgm:pt>
    <dgm:pt modelId="{4285A84E-EE53-4052-B4D1-2D5665E5C93A}" type="pres">
      <dgm:prSet presAssocID="{C55E4F30-C4B0-4DE8-A354-951C455C64E2}" presName="spaceRect" presStyleCnt="0"/>
      <dgm:spPr/>
    </dgm:pt>
    <dgm:pt modelId="{47E2C760-2A34-4136-8A16-E113F22C1C33}" type="pres">
      <dgm:prSet presAssocID="{C55E4F30-C4B0-4DE8-A354-951C455C64E2}" presName="textRect" presStyleLbl="revTx" presStyleIdx="1" presStyleCnt="5">
        <dgm:presLayoutVars>
          <dgm:chMax val="1"/>
          <dgm:chPref val="1"/>
        </dgm:presLayoutVars>
      </dgm:prSet>
      <dgm:spPr/>
    </dgm:pt>
    <dgm:pt modelId="{712EEDC2-B3D0-4EC7-89E7-B4B8E650DC76}" type="pres">
      <dgm:prSet presAssocID="{045BC72F-CB56-4D9D-9A84-77823D7170A6}" presName="sibTrans" presStyleCnt="0"/>
      <dgm:spPr/>
    </dgm:pt>
    <dgm:pt modelId="{811BFEFA-D882-4D37-B16B-AB8940C8C6E8}" type="pres">
      <dgm:prSet presAssocID="{CDE8F819-32E8-4C16-B093-DAD1E0D2D6C8}" presName="compNode" presStyleCnt="0"/>
      <dgm:spPr/>
    </dgm:pt>
    <dgm:pt modelId="{63B73690-653D-4483-8FD2-6D087E3F5418}" type="pres">
      <dgm:prSet presAssocID="{CDE8F819-32E8-4C16-B093-DAD1E0D2D6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iguration"/>
        </a:ext>
      </dgm:extLst>
    </dgm:pt>
    <dgm:pt modelId="{B7726C7D-A35C-432A-B73B-AD236BEACED7}" type="pres">
      <dgm:prSet presAssocID="{CDE8F819-32E8-4C16-B093-DAD1E0D2D6C8}" presName="spaceRect" presStyleCnt="0"/>
      <dgm:spPr/>
    </dgm:pt>
    <dgm:pt modelId="{AFD95C48-A8F7-4C22-9555-BD44C6B302EE}" type="pres">
      <dgm:prSet presAssocID="{CDE8F819-32E8-4C16-B093-DAD1E0D2D6C8}" presName="textRect" presStyleLbl="revTx" presStyleIdx="2" presStyleCnt="5">
        <dgm:presLayoutVars>
          <dgm:chMax val="1"/>
          <dgm:chPref val="1"/>
        </dgm:presLayoutVars>
      </dgm:prSet>
      <dgm:spPr/>
    </dgm:pt>
    <dgm:pt modelId="{C5BEE82A-5C2B-4A20-A96B-EE2C501E931A}" type="pres">
      <dgm:prSet presAssocID="{4C9FF55E-2D4A-48B8-82E9-10484359E30E}" presName="sibTrans" presStyleCnt="0"/>
      <dgm:spPr/>
    </dgm:pt>
    <dgm:pt modelId="{3BFD8A9E-8055-43A0-AC6D-2798AB11FE06}" type="pres">
      <dgm:prSet presAssocID="{3A41E9E8-2142-4F2F-8020-E6264D1A4D11}" presName="compNode" presStyleCnt="0"/>
      <dgm:spPr/>
    </dgm:pt>
    <dgm:pt modelId="{339BB74B-A6D7-4A74-9B7D-301CE2B0BCA0}" type="pres">
      <dgm:prSet presAssocID="{3A41E9E8-2142-4F2F-8020-E6264D1A4D1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F572A02C-9505-4886-A574-15B857575658}" type="pres">
      <dgm:prSet presAssocID="{3A41E9E8-2142-4F2F-8020-E6264D1A4D11}" presName="spaceRect" presStyleCnt="0"/>
      <dgm:spPr/>
    </dgm:pt>
    <dgm:pt modelId="{9C70B81D-AC77-4532-8882-A42B845A4335}" type="pres">
      <dgm:prSet presAssocID="{3A41E9E8-2142-4F2F-8020-E6264D1A4D11}" presName="textRect" presStyleLbl="revTx" presStyleIdx="3" presStyleCnt="5">
        <dgm:presLayoutVars>
          <dgm:chMax val="1"/>
          <dgm:chPref val="1"/>
        </dgm:presLayoutVars>
      </dgm:prSet>
      <dgm:spPr/>
    </dgm:pt>
    <dgm:pt modelId="{CE0B4E64-5AF3-488E-8170-948AE64E4FAA}" type="pres">
      <dgm:prSet presAssocID="{604B8B2D-0982-49F0-976F-4C06A76EE983}" presName="sibTrans" presStyleCnt="0"/>
      <dgm:spPr/>
    </dgm:pt>
    <dgm:pt modelId="{7E8CE312-749D-45CF-AF51-65859FEC9799}" type="pres">
      <dgm:prSet presAssocID="{2DA094DE-D360-488F-ADE7-D6122E95529B}" presName="compNode" presStyleCnt="0"/>
      <dgm:spPr/>
    </dgm:pt>
    <dgm:pt modelId="{E1115556-5480-4429-98BC-A943A7E71A01}" type="pres">
      <dgm:prSet presAssocID="{2DA094DE-D360-488F-ADE7-D6122E9552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5A44D76A-F6C3-423D-9C14-682EAB62F7DC}" type="pres">
      <dgm:prSet presAssocID="{2DA094DE-D360-488F-ADE7-D6122E95529B}" presName="spaceRect" presStyleCnt="0"/>
      <dgm:spPr/>
    </dgm:pt>
    <dgm:pt modelId="{1DEB4E8B-0E2C-4304-B76A-C84BB07C909A}" type="pres">
      <dgm:prSet presAssocID="{2DA094DE-D360-488F-ADE7-D6122E95529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68D7118-98D5-4D4C-9BBA-50A3E3827B89}" srcId="{85C83215-94D9-418B-B1E9-F5992C830F85}" destId="{CDFC7D47-D611-44F3-B7AE-2414A20BCBF2}" srcOrd="0" destOrd="0" parTransId="{535AD92B-FD74-4CA6-BB4A-3D3F0D365F03}" sibTransId="{7E49D96C-5BE4-46E4-98F6-DA88C726CDB2}"/>
    <dgm:cxn modelId="{A32C721A-D470-4347-9750-4A90533D994D}" type="presOf" srcId="{CDFC7D47-D611-44F3-B7AE-2414A20BCBF2}" destId="{2D64CFA9-4A10-4191-8102-CF9648FE1729}" srcOrd="0" destOrd="0" presId="urn:microsoft.com/office/officeart/2018/2/layout/IconLabelList"/>
    <dgm:cxn modelId="{2463AD60-5C9F-47B0-947C-9305F36A2E2F}" type="presOf" srcId="{3A41E9E8-2142-4F2F-8020-E6264D1A4D11}" destId="{9C70B81D-AC77-4532-8882-A42B845A4335}" srcOrd="0" destOrd="0" presId="urn:microsoft.com/office/officeart/2018/2/layout/IconLabelList"/>
    <dgm:cxn modelId="{C7FD3E47-4265-4AB4-9DAC-8163577DED43}" type="presOf" srcId="{2DA094DE-D360-488F-ADE7-D6122E95529B}" destId="{1DEB4E8B-0E2C-4304-B76A-C84BB07C909A}" srcOrd="0" destOrd="0" presId="urn:microsoft.com/office/officeart/2018/2/layout/IconLabelList"/>
    <dgm:cxn modelId="{234FF752-5444-42BA-948D-6F2825CACD93}" srcId="{85C83215-94D9-418B-B1E9-F5992C830F85}" destId="{C55E4F30-C4B0-4DE8-A354-951C455C64E2}" srcOrd="1" destOrd="0" parTransId="{BFB4B4D1-6B44-425A-99EA-9F19DE626F2A}" sibTransId="{045BC72F-CB56-4D9D-9A84-77823D7170A6}"/>
    <dgm:cxn modelId="{458DC980-32B3-4A2E-88AB-1B58B1CD9A28}" type="presOf" srcId="{85C83215-94D9-418B-B1E9-F5992C830F85}" destId="{154F56B4-3E80-458B-A28A-E86504AB5E32}" srcOrd="0" destOrd="0" presId="urn:microsoft.com/office/officeart/2018/2/layout/IconLabelList"/>
    <dgm:cxn modelId="{581B1884-D94C-42F5-92FA-3EE807B53FB7}" srcId="{85C83215-94D9-418B-B1E9-F5992C830F85}" destId="{CDE8F819-32E8-4C16-B093-DAD1E0D2D6C8}" srcOrd="2" destOrd="0" parTransId="{649EEECE-78B0-4E44-ADCE-E3CB93F11CB8}" sibTransId="{4C9FF55E-2D4A-48B8-82E9-10484359E30E}"/>
    <dgm:cxn modelId="{985A6A8F-6A26-4580-A5F1-E891FD95F63E}" type="presOf" srcId="{CDE8F819-32E8-4C16-B093-DAD1E0D2D6C8}" destId="{AFD95C48-A8F7-4C22-9555-BD44C6B302EE}" srcOrd="0" destOrd="0" presId="urn:microsoft.com/office/officeart/2018/2/layout/IconLabelList"/>
    <dgm:cxn modelId="{4E075793-B060-4C94-888C-5C4058E118BD}" type="presOf" srcId="{C55E4F30-C4B0-4DE8-A354-951C455C64E2}" destId="{47E2C760-2A34-4136-8A16-E113F22C1C33}" srcOrd="0" destOrd="0" presId="urn:microsoft.com/office/officeart/2018/2/layout/IconLabelList"/>
    <dgm:cxn modelId="{D0AA3BC7-6700-4B1A-9185-B702522030CD}" srcId="{85C83215-94D9-418B-B1E9-F5992C830F85}" destId="{3A41E9E8-2142-4F2F-8020-E6264D1A4D11}" srcOrd="3" destOrd="0" parTransId="{F5362C8E-7C5F-4912-A198-6B3407C4BE2D}" sibTransId="{604B8B2D-0982-49F0-976F-4C06A76EE983}"/>
    <dgm:cxn modelId="{11EAACF0-4C32-4DC5-BDBA-5055CAADB23F}" srcId="{85C83215-94D9-418B-B1E9-F5992C830F85}" destId="{2DA094DE-D360-488F-ADE7-D6122E95529B}" srcOrd="4" destOrd="0" parTransId="{4501F757-C7BE-4E40-B0D4-D6638E9F01C8}" sibTransId="{BCB75D39-8759-4BCC-92E8-BEC5ABFC0F94}"/>
    <dgm:cxn modelId="{226CCF6B-4579-4FC8-9C7B-CC001FA00719}" type="presParOf" srcId="{154F56B4-3E80-458B-A28A-E86504AB5E32}" destId="{D4D8E1C4-1540-4C82-A908-5B05BC93CA49}" srcOrd="0" destOrd="0" presId="urn:microsoft.com/office/officeart/2018/2/layout/IconLabelList"/>
    <dgm:cxn modelId="{39643260-4FE4-4087-86CC-7DDEAEB24FCE}" type="presParOf" srcId="{D4D8E1C4-1540-4C82-A908-5B05BC93CA49}" destId="{F150F26F-5C33-49D7-AB2A-E699CEC3AFE8}" srcOrd="0" destOrd="0" presId="urn:microsoft.com/office/officeart/2018/2/layout/IconLabelList"/>
    <dgm:cxn modelId="{1DA2DC68-DB09-491E-BD35-96AD28F5E130}" type="presParOf" srcId="{D4D8E1C4-1540-4C82-A908-5B05BC93CA49}" destId="{6E14EC97-AD68-4967-984F-3308DC53A0DA}" srcOrd="1" destOrd="0" presId="urn:microsoft.com/office/officeart/2018/2/layout/IconLabelList"/>
    <dgm:cxn modelId="{0944CB09-7FA0-4DF6-AAD8-67DDC80A6DA9}" type="presParOf" srcId="{D4D8E1C4-1540-4C82-A908-5B05BC93CA49}" destId="{2D64CFA9-4A10-4191-8102-CF9648FE1729}" srcOrd="2" destOrd="0" presId="urn:microsoft.com/office/officeart/2018/2/layout/IconLabelList"/>
    <dgm:cxn modelId="{E66DC199-01D3-4A95-9BE1-7F54EC829D8A}" type="presParOf" srcId="{154F56B4-3E80-458B-A28A-E86504AB5E32}" destId="{9099291C-2BFA-4242-A947-1BA2599B2D0E}" srcOrd="1" destOrd="0" presId="urn:microsoft.com/office/officeart/2018/2/layout/IconLabelList"/>
    <dgm:cxn modelId="{6EA165AB-0FCE-43F8-866B-F42175A067B6}" type="presParOf" srcId="{154F56B4-3E80-458B-A28A-E86504AB5E32}" destId="{A99785D7-5636-4B9B-A750-EF982B6DFBE0}" srcOrd="2" destOrd="0" presId="urn:microsoft.com/office/officeart/2018/2/layout/IconLabelList"/>
    <dgm:cxn modelId="{20E909B0-9900-41DC-9F0C-65214203D097}" type="presParOf" srcId="{A99785D7-5636-4B9B-A750-EF982B6DFBE0}" destId="{E7584DBF-21FA-4581-BC00-29F7C66F063B}" srcOrd="0" destOrd="0" presId="urn:microsoft.com/office/officeart/2018/2/layout/IconLabelList"/>
    <dgm:cxn modelId="{F98955E1-2F02-4946-A954-2AF6A72A5A80}" type="presParOf" srcId="{A99785D7-5636-4B9B-A750-EF982B6DFBE0}" destId="{4285A84E-EE53-4052-B4D1-2D5665E5C93A}" srcOrd="1" destOrd="0" presId="urn:microsoft.com/office/officeart/2018/2/layout/IconLabelList"/>
    <dgm:cxn modelId="{B2A0E0C4-060B-48B1-8E9D-976309957E28}" type="presParOf" srcId="{A99785D7-5636-4B9B-A750-EF982B6DFBE0}" destId="{47E2C760-2A34-4136-8A16-E113F22C1C33}" srcOrd="2" destOrd="0" presId="urn:microsoft.com/office/officeart/2018/2/layout/IconLabelList"/>
    <dgm:cxn modelId="{C16F872C-D465-4824-A7D6-7E7F72594B38}" type="presParOf" srcId="{154F56B4-3E80-458B-A28A-E86504AB5E32}" destId="{712EEDC2-B3D0-4EC7-89E7-B4B8E650DC76}" srcOrd="3" destOrd="0" presId="urn:microsoft.com/office/officeart/2018/2/layout/IconLabelList"/>
    <dgm:cxn modelId="{1E682D8E-205B-4319-9854-4048848A2061}" type="presParOf" srcId="{154F56B4-3E80-458B-A28A-E86504AB5E32}" destId="{811BFEFA-D882-4D37-B16B-AB8940C8C6E8}" srcOrd="4" destOrd="0" presId="urn:microsoft.com/office/officeart/2018/2/layout/IconLabelList"/>
    <dgm:cxn modelId="{8144E02C-DADD-4C77-82C8-B285334ABEA3}" type="presParOf" srcId="{811BFEFA-D882-4D37-B16B-AB8940C8C6E8}" destId="{63B73690-653D-4483-8FD2-6D087E3F5418}" srcOrd="0" destOrd="0" presId="urn:microsoft.com/office/officeart/2018/2/layout/IconLabelList"/>
    <dgm:cxn modelId="{77153BB1-91EC-41BD-97CF-E4C748802C21}" type="presParOf" srcId="{811BFEFA-D882-4D37-B16B-AB8940C8C6E8}" destId="{B7726C7D-A35C-432A-B73B-AD236BEACED7}" srcOrd="1" destOrd="0" presId="urn:microsoft.com/office/officeart/2018/2/layout/IconLabelList"/>
    <dgm:cxn modelId="{42AAF731-1721-48F9-876A-8964B9BE52C9}" type="presParOf" srcId="{811BFEFA-D882-4D37-B16B-AB8940C8C6E8}" destId="{AFD95C48-A8F7-4C22-9555-BD44C6B302EE}" srcOrd="2" destOrd="0" presId="urn:microsoft.com/office/officeart/2018/2/layout/IconLabelList"/>
    <dgm:cxn modelId="{89ACCAC7-676A-490F-88A0-75CB16C3ADD2}" type="presParOf" srcId="{154F56B4-3E80-458B-A28A-E86504AB5E32}" destId="{C5BEE82A-5C2B-4A20-A96B-EE2C501E931A}" srcOrd="5" destOrd="0" presId="urn:microsoft.com/office/officeart/2018/2/layout/IconLabelList"/>
    <dgm:cxn modelId="{ECB4CD8C-ECF8-4880-ACDA-659001BAA9EB}" type="presParOf" srcId="{154F56B4-3E80-458B-A28A-E86504AB5E32}" destId="{3BFD8A9E-8055-43A0-AC6D-2798AB11FE06}" srcOrd="6" destOrd="0" presId="urn:microsoft.com/office/officeart/2018/2/layout/IconLabelList"/>
    <dgm:cxn modelId="{52A8CC99-E1DA-45D0-ACC7-0C393082F837}" type="presParOf" srcId="{3BFD8A9E-8055-43A0-AC6D-2798AB11FE06}" destId="{339BB74B-A6D7-4A74-9B7D-301CE2B0BCA0}" srcOrd="0" destOrd="0" presId="urn:microsoft.com/office/officeart/2018/2/layout/IconLabelList"/>
    <dgm:cxn modelId="{F77DA6FB-1A7D-432F-B1FC-431144B0DD5B}" type="presParOf" srcId="{3BFD8A9E-8055-43A0-AC6D-2798AB11FE06}" destId="{F572A02C-9505-4886-A574-15B857575658}" srcOrd="1" destOrd="0" presId="urn:microsoft.com/office/officeart/2018/2/layout/IconLabelList"/>
    <dgm:cxn modelId="{E14580C8-E3D3-4076-BF56-5D0126475342}" type="presParOf" srcId="{3BFD8A9E-8055-43A0-AC6D-2798AB11FE06}" destId="{9C70B81D-AC77-4532-8882-A42B845A4335}" srcOrd="2" destOrd="0" presId="urn:microsoft.com/office/officeart/2018/2/layout/IconLabelList"/>
    <dgm:cxn modelId="{12FB536A-FFD2-4A00-9748-5B66211D7CA9}" type="presParOf" srcId="{154F56B4-3E80-458B-A28A-E86504AB5E32}" destId="{CE0B4E64-5AF3-488E-8170-948AE64E4FAA}" srcOrd="7" destOrd="0" presId="urn:microsoft.com/office/officeart/2018/2/layout/IconLabelList"/>
    <dgm:cxn modelId="{E74B37FF-84CD-4F48-8129-E86130C49395}" type="presParOf" srcId="{154F56B4-3E80-458B-A28A-E86504AB5E32}" destId="{7E8CE312-749D-45CF-AF51-65859FEC9799}" srcOrd="8" destOrd="0" presId="urn:microsoft.com/office/officeart/2018/2/layout/IconLabelList"/>
    <dgm:cxn modelId="{E612C411-8AA8-41A0-A92C-3A87E1E56BD2}" type="presParOf" srcId="{7E8CE312-749D-45CF-AF51-65859FEC9799}" destId="{E1115556-5480-4429-98BC-A943A7E71A01}" srcOrd="0" destOrd="0" presId="urn:microsoft.com/office/officeart/2018/2/layout/IconLabelList"/>
    <dgm:cxn modelId="{E8B5FF31-838A-4234-B681-9BDF4BDF9011}" type="presParOf" srcId="{7E8CE312-749D-45CF-AF51-65859FEC9799}" destId="{5A44D76A-F6C3-423D-9C14-682EAB62F7DC}" srcOrd="1" destOrd="0" presId="urn:microsoft.com/office/officeart/2018/2/layout/IconLabelList"/>
    <dgm:cxn modelId="{90C18E2C-E084-425D-84DB-A82F32391956}" type="presParOf" srcId="{7E8CE312-749D-45CF-AF51-65859FEC9799}" destId="{1DEB4E8B-0E2C-4304-B76A-C84BB07C909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0F26F-5C33-49D7-AB2A-E699CEC3AFE8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4CFA9-4A10-4191-8102-CF9648FE1729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Introduction</a:t>
          </a:r>
          <a:endParaRPr lang="en-US" sz="2000" kern="1200"/>
        </a:p>
      </dsp:txBody>
      <dsp:txXfrm>
        <a:off x="127800" y="2355670"/>
        <a:ext cx="1800000" cy="720000"/>
      </dsp:txXfrm>
    </dsp:sp>
    <dsp:sp modelId="{E7584DBF-21FA-4581-BC00-29F7C66F063B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2C760-2A34-4136-8A16-E113F22C1C33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Background and Literature review</a:t>
          </a:r>
          <a:endParaRPr lang="en-US" sz="2000" kern="1200"/>
        </a:p>
      </dsp:txBody>
      <dsp:txXfrm>
        <a:off x="2242800" y="2355670"/>
        <a:ext cx="1800000" cy="720000"/>
      </dsp:txXfrm>
    </dsp:sp>
    <dsp:sp modelId="{63B73690-653D-4483-8FD2-6D087E3F5418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95C48-A8F7-4C22-9555-BD44C6B302EE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Approach</a:t>
          </a:r>
          <a:endParaRPr lang="en-US" sz="2000" kern="1200"/>
        </a:p>
      </dsp:txBody>
      <dsp:txXfrm>
        <a:off x="4357800" y="2355670"/>
        <a:ext cx="1800000" cy="720000"/>
      </dsp:txXfrm>
    </dsp:sp>
    <dsp:sp modelId="{339BB74B-A6D7-4A74-9B7D-301CE2B0BCA0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0B81D-AC77-4532-8882-A42B845A4335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Result and discussion</a:t>
          </a:r>
          <a:endParaRPr lang="en-US" sz="2000" kern="1200"/>
        </a:p>
      </dsp:txBody>
      <dsp:txXfrm>
        <a:off x="6472800" y="2355670"/>
        <a:ext cx="1800000" cy="720000"/>
      </dsp:txXfrm>
    </dsp:sp>
    <dsp:sp modelId="{E1115556-5480-4429-98BC-A943A7E71A01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B4E8B-0E2C-4304-B76A-C84BB07C909A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Conclusion</a:t>
          </a:r>
          <a:endParaRPr lang="en-US" sz="2000" kern="1200" dirty="0"/>
        </a:p>
      </dsp:txBody>
      <dsp:txXfrm>
        <a:off x="858780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34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10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6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932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90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386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89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669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210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84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3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6C940-9E1C-4C03-B6C3-7C45EE76DEB1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1688D-59B3-4CAA-8D09-749A520CC7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556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pngimg.com/png/63843-thank-discord-media-thought-social-think-emoj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248C-F7CE-44D1-2F4F-D95E1BC7E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5400" b="1" dirty="0">
                <a:solidFill>
                  <a:schemeClr val="accent1">
                    <a:lumMod val="75000"/>
                  </a:schemeClr>
                </a:solidFill>
              </a:rPr>
              <a:t>Data-driven Modelling </a:t>
            </a:r>
            <a:br>
              <a:rPr lang="en-CA" sz="5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5400" b="1" dirty="0">
                <a:solidFill>
                  <a:schemeClr val="accent1">
                    <a:lumMod val="75000"/>
                  </a:schemeClr>
                </a:solidFill>
              </a:rPr>
              <a:t>of a multi-coil </a:t>
            </a:r>
            <a:br>
              <a:rPr lang="en-CA" sz="5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CA" sz="5400" b="1" dirty="0">
                <a:solidFill>
                  <a:schemeClr val="accent1">
                    <a:lumMod val="75000"/>
                  </a:schemeClr>
                </a:solidFill>
              </a:rPr>
              <a:t>Magnetic Actuation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70F3A-4DA5-D849-ADCF-8A74E7C7719D}"/>
              </a:ext>
            </a:extLst>
          </p:cNvPr>
          <p:cNvSpPr txBox="1"/>
          <p:nvPr/>
        </p:nvSpPr>
        <p:spPr>
          <a:xfrm>
            <a:off x="1524000" y="4414684"/>
            <a:ext cx="9153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Supervisors: 	Dr. Eric Diller, </a:t>
            </a:r>
          </a:p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	Daniel Sieben, </a:t>
            </a:r>
          </a:p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	Erik Fredin</a:t>
            </a:r>
          </a:p>
          <a:p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													December 18, 2024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CA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236013C-31FA-2B55-A203-F26F76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57007"/>
          </a:xfrm>
        </p:spPr>
        <p:txBody>
          <a:bodyPr/>
          <a:lstStyle/>
          <a:p>
            <a:r>
              <a:rPr lang="en-CA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By: Gediyon M. Girma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6885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EAB1-E2F8-4CA1-4B22-7DF010EE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Outline</a:t>
            </a:r>
            <a:endParaRPr lang="en-CA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59C6229-1228-BA5D-27B5-26EC63DFF6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43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857233-EABC-64A4-BFF6-96682C0F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CA" sz="3600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8AE42-5C21-40EC-EBAF-A091FFDA6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Previous term: magnetic actuation system characterization performed.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Goal:  to extend the system’s control capability from a single pt. to 3D workspace.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Highlights: challenges of the dipole model 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Main challenges: </a:t>
            </a:r>
          </a:p>
          <a:p>
            <a:pPr lvl="3"/>
            <a:r>
              <a:rPr lang="en-US" dirty="0">
                <a:solidFill>
                  <a:schemeClr val="tx2"/>
                </a:solidFill>
              </a:rPr>
              <a:t>determining the exact magnetic moment value of the core material and </a:t>
            </a:r>
          </a:p>
          <a:p>
            <a:pPr lvl="3"/>
            <a:r>
              <a:rPr lang="en-US" dirty="0">
                <a:solidFill>
                  <a:schemeClr val="tx2"/>
                </a:solidFill>
              </a:rPr>
              <a:t>Modelling cross-magnetization effect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Mean average percentage error over 100%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It was also noted that FEM modeling is too slow for real-time control.</a:t>
            </a:r>
          </a:p>
          <a:p>
            <a:r>
              <a:rPr lang="en-US" sz="1800" dirty="0">
                <a:solidFill>
                  <a:schemeClr val="tx2"/>
                </a:solidFill>
              </a:rPr>
              <a:t>We need a better way to model our system.</a:t>
            </a:r>
            <a:endParaRPr lang="en-CA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52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70870-4A3D-B19C-45D0-58120F78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CA" sz="3600" dirty="0">
                <a:solidFill>
                  <a:schemeClr val="tx2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D722-D633-4B74-C49C-9CB6B68B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1102567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Magnetic actuation occur when a magnetic element, </a:t>
            </a:r>
            <a:r>
              <a:rPr lang="en-US" sz="1800" dirty="0" err="1">
                <a:solidFill>
                  <a:schemeClr val="tx2"/>
                </a:solidFill>
              </a:rPr>
              <a:t>i.e</a:t>
            </a:r>
            <a:r>
              <a:rPr lang="en-US" sz="1800" dirty="0">
                <a:solidFill>
                  <a:schemeClr val="tx2"/>
                </a:solidFill>
              </a:rPr>
              <a:t> magnetic surgical tool tip, resides in an external field generated by a magnetic actuation system.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7EA0C4A-A365-51A6-F304-6AADD314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808614"/>
            <a:ext cx="4142232" cy="2164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6726B2-055E-7B83-B9C0-E73D663E4104}"/>
              </a:ext>
            </a:extLst>
          </p:cNvPr>
          <p:cNvSpPr txBox="1"/>
          <p:nvPr/>
        </p:nvSpPr>
        <p:spPr>
          <a:xfrm>
            <a:off x="903351" y="4200144"/>
            <a:ext cx="4148380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Where: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 and τ are the force and torque on the magnetic element,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 is the magnetic moment of the element and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B is the magnetic field generated by the actuation system.</a:t>
            </a:r>
            <a:endParaRPr lang="en-CA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60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4A169-A2F5-A3F7-4DC5-F08CCAF3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chemeClr val="tx2"/>
                </a:solidFill>
              </a:rPr>
              <a:t>Literature review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0CAA7D-263F-6657-C8A9-363814704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701661"/>
              </p:ext>
            </p:extLst>
          </p:nvPr>
        </p:nvGraphicFramePr>
        <p:xfrm>
          <a:off x="1036320" y="2563143"/>
          <a:ext cx="10119361" cy="356051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393026">
                  <a:extLst>
                    <a:ext uri="{9D8B030D-6E8A-4147-A177-3AD203B41FA5}">
                      <a16:colId xmlns:a16="http://schemas.microsoft.com/office/drawing/2014/main" val="3271544315"/>
                    </a:ext>
                  </a:extLst>
                </a:gridCol>
                <a:gridCol w="3878370">
                  <a:extLst>
                    <a:ext uri="{9D8B030D-6E8A-4147-A177-3AD203B41FA5}">
                      <a16:colId xmlns:a16="http://schemas.microsoft.com/office/drawing/2014/main" val="938031967"/>
                    </a:ext>
                  </a:extLst>
                </a:gridCol>
                <a:gridCol w="3847965">
                  <a:extLst>
                    <a:ext uri="{9D8B030D-6E8A-4147-A177-3AD203B41FA5}">
                      <a16:colId xmlns:a16="http://schemas.microsoft.com/office/drawing/2014/main" val="789330528"/>
                    </a:ext>
                  </a:extLst>
                </a:gridCol>
              </a:tblGrid>
              <a:tr h="421292"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Study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Model/System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Key Findings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167821"/>
                  </a:ext>
                </a:extLst>
              </a:tr>
              <a:tr h="847228"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Sikorski et al.</a:t>
                      </a:r>
                      <a:endParaRPr lang="en-C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FEM Modeling (6-coil system)</a:t>
                      </a:r>
                      <a:br>
                        <a:rPr lang="en-US" sz="1300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Measurement-based calibration</a:t>
                      </a:r>
                    </a:p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10cm diameter spherical workspace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Mean error: 3.36% per coil and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15.21% for the entire system</a:t>
                      </a: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257552"/>
                  </a:ext>
                </a:extLst>
              </a:tr>
              <a:tr h="421292"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Heris et al.</a:t>
                      </a:r>
                      <a:endParaRPr lang="en-C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300" cap="none" spc="0">
                          <a:solidFill>
                            <a:schemeClr val="tx1"/>
                          </a:solidFill>
                        </a:rPr>
                        <a:t>FEM Simulation (8-coil system)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Error up to: 17%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903662"/>
                  </a:ext>
                </a:extLst>
              </a:tr>
              <a:tr h="832540"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Yu et al.</a:t>
                      </a:r>
                      <a:endParaRPr lang="en-C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ANN Model (Linear Magnetization)</a:t>
                      </a:r>
                    </a:p>
                    <a:p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8-coil magnetic actuation system</a:t>
                      </a:r>
                      <a:br>
                        <a:rPr lang="en-US" sz="13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10 cm³ Workspace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RMSE: 3.01 mT</a:t>
                      </a: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896131"/>
                  </a:ext>
                </a:extLst>
              </a:tr>
              <a:tr h="1038164">
                <a:tc>
                  <a:txBody>
                    <a:bodyPr/>
                    <a:lstStyle/>
                    <a:p>
                      <a:r>
                        <a:rPr lang="en-CA" sz="1300" b="1" cap="none" spc="0">
                          <a:solidFill>
                            <a:schemeClr val="tx1"/>
                          </a:solidFill>
                        </a:rPr>
                        <a:t>Charreyron et al.</a:t>
                      </a:r>
                      <a:endParaRPr lang="en-C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cap="none" spc="0" dirty="0">
                          <a:solidFill>
                            <a:schemeClr val="tx1"/>
                          </a:solidFill>
                        </a:rPr>
                        <a:t>CNN Model (Non-linear Magnetization)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8-coil magnetic actuation system</a:t>
                      </a:r>
                      <a:br>
                        <a:rPr lang="en-US" sz="13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10 cm³ Workspace</a:t>
                      </a:r>
                    </a:p>
                    <a:p>
                      <a:endParaRPr lang="it-IT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300" cap="none" spc="0" dirty="0">
                          <a:solidFill>
                            <a:schemeClr val="tx1"/>
                          </a:solidFill>
                        </a:rPr>
                        <a:t>RMSE: 0.83 </a:t>
                      </a:r>
                      <a:r>
                        <a:rPr lang="en-CA" sz="1300" cap="none" spc="0" dirty="0" err="1">
                          <a:solidFill>
                            <a:schemeClr val="tx1"/>
                          </a:solidFill>
                        </a:rPr>
                        <a:t>mT</a:t>
                      </a:r>
                      <a:br>
                        <a:rPr lang="en-CA" sz="130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CA" sz="1300" cap="none" spc="0" dirty="0">
                          <a:solidFill>
                            <a:schemeClr val="tx1"/>
                          </a:solidFill>
                        </a:rPr>
                        <a:t>MAE: 0.51 </a:t>
                      </a:r>
                      <a:r>
                        <a:rPr lang="en-CA" sz="1300" cap="none" spc="0" dirty="0" err="1">
                          <a:solidFill>
                            <a:schemeClr val="tx1"/>
                          </a:solidFill>
                        </a:rPr>
                        <a:t>mT</a:t>
                      </a:r>
                      <a:endParaRPr lang="en-CA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271" marR="69238" marT="90209" marB="90209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475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62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4BC8-42DD-37F1-89A8-59BD18F2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000" dirty="0">
                <a:solidFill>
                  <a:schemeClr val="tx2"/>
                </a:solidFill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E9169-7A9B-D95D-FE72-D6494E423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dirty="0">
                <a:solidFill>
                  <a:schemeClr val="tx2"/>
                </a:solidFill>
              </a:rPr>
              <a:t>NN b/c no specialized knowledge of input and output structure and proven universal function approximation</a:t>
            </a:r>
          </a:p>
          <a:p>
            <a:r>
              <a:rPr lang="en-US" sz="2600" dirty="0">
                <a:solidFill>
                  <a:schemeClr val="tx2"/>
                </a:solidFill>
              </a:rPr>
              <a:t>Network architectures well suited for our task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sz="2100" dirty="0">
                <a:solidFill>
                  <a:schemeClr val="tx2"/>
                </a:solidFill>
              </a:rPr>
              <a:t>Input: Current and spatial position (11D vector)</a:t>
            </a:r>
          </a:p>
          <a:p>
            <a:pPr lvl="1"/>
            <a:r>
              <a:rPr lang="en-US" sz="2100" dirty="0">
                <a:solidFill>
                  <a:schemeClr val="tx2"/>
                </a:solidFill>
              </a:rPr>
              <a:t>Output: 3D magnetic field vector</a:t>
            </a:r>
          </a:p>
          <a:p>
            <a:r>
              <a:rPr lang="en-US" sz="2600" dirty="0">
                <a:solidFill>
                  <a:schemeClr val="tx2"/>
                </a:solidFill>
              </a:rPr>
              <a:t>The physics of electrodynamics can be embedded into the network using the training data.</a:t>
            </a:r>
          </a:p>
          <a:p>
            <a:r>
              <a:rPr lang="en-US" sz="2600" dirty="0">
                <a:solidFill>
                  <a:schemeClr val="tx2"/>
                </a:solidFill>
              </a:rPr>
              <a:t>The model architecture and hyper-parameters tunning:</a:t>
            </a:r>
          </a:p>
          <a:p>
            <a:pPr lvl="1"/>
            <a:r>
              <a:rPr lang="en-US" sz="2100" dirty="0">
                <a:solidFill>
                  <a:schemeClr val="tx2"/>
                </a:solidFill>
              </a:rPr>
              <a:t>Using software tools </a:t>
            </a:r>
            <a:r>
              <a:rPr lang="en-US" sz="2100" dirty="0" err="1">
                <a:solidFill>
                  <a:schemeClr val="tx2"/>
                </a:solidFill>
              </a:rPr>
              <a:t>MLflow</a:t>
            </a:r>
            <a:r>
              <a:rPr lang="en-US" sz="2100" dirty="0">
                <a:solidFill>
                  <a:schemeClr val="tx2"/>
                </a:solidFill>
              </a:rPr>
              <a:t> and </a:t>
            </a:r>
            <a:r>
              <a:rPr lang="en-US" sz="2100" dirty="0" err="1">
                <a:solidFill>
                  <a:schemeClr val="tx2"/>
                </a:solidFill>
              </a:rPr>
              <a:t>Optuna</a:t>
            </a:r>
            <a:r>
              <a:rPr lang="en-US" sz="2100" dirty="0">
                <a:solidFill>
                  <a:schemeClr val="tx2"/>
                </a:solidFill>
              </a:rPr>
              <a:t> together to implement Bayesian optimization called Tree-structured </a:t>
            </a:r>
            <a:r>
              <a:rPr lang="en-US" sz="2100" dirty="0" err="1">
                <a:solidFill>
                  <a:schemeClr val="tx2"/>
                </a:solidFill>
              </a:rPr>
              <a:t>Parzen</a:t>
            </a:r>
            <a:r>
              <a:rPr lang="en-US" sz="2100" dirty="0">
                <a:solidFill>
                  <a:schemeClr val="tx2"/>
                </a:solidFill>
              </a:rPr>
              <a:t> Estimator.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10916B-D79F-851A-14BF-50FA1F197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462338"/>
              </p:ext>
            </p:extLst>
          </p:nvPr>
        </p:nvGraphicFramePr>
        <p:xfrm>
          <a:off x="1500072" y="2632358"/>
          <a:ext cx="9587346" cy="1681577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4935357">
                  <a:extLst>
                    <a:ext uri="{9D8B030D-6E8A-4147-A177-3AD203B41FA5}">
                      <a16:colId xmlns:a16="http://schemas.microsoft.com/office/drawing/2014/main" val="2719600513"/>
                    </a:ext>
                  </a:extLst>
                </a:gridCol>
                <a:gridCol w="4651989">
                  <a:extLst>
                    <a:ext uri="{9D8B030D-6E8A-4147-A177-3AD203B41FA5}">
                      <a16:colId xmlns:a16="http://schemas.microsoft.com/office/drawing/2014/main" val="246553935"/>
                    </a:ext>
                  </a:extLst>
                </a:gridCol>
              </a:tblGrid>
              <a:tr h="309165">
                <a:tc>
                  <a:txBody>
                    <a:bodyPr/>
                    <a:lstStyle/>
                    <a:p>
                      <a:pPr algn="l" fontAlgn="b"/>
                      <a:r>
                        <a:rPr lang="en-CA" sz="2000" b="1" kern="1200" dirty="0">
                          <a:solidFill>
                            <a:schemeClr val="tx2"/>
                          </a:solidFill>
                        </a:rPr>
                        <a:t>Convolution Neural Networks (CNN)</a:t>
                      </a:r>
                      <a:endParaRPr lang="en-CA" sz="2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000" b="1" kern="1200" dirty="0">
                          <a:solidFill>
                            <a:schemeClr val="tx2"/>
                          </a:solidFill>
                        </a:rPr>
                        <a:t>Feed Forward Network (FFN) </a:t>
                      </a:r>
                      <a:endParaRPr lang="en-CA" sz="2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6315068"/>
                  </a:ext>
                </a:extLst>
              </a:tr>
              <a:tr h="1369157"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predicts on a grid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Requires interpolation function with its own inaccuracies</a:t>
                      </a:r>
                      <a:endParaRPr 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Predicts at any point in the workspace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Interpolation is not required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Direct calculation of field gradient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43522385"/>
                  </a:ext>
                </a:extLst>
              </a:tr>
            </a:tbl>
          </a:graphicData>
        </a:graphic>
      </p:graphicFrame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A7660595-EDB8-8C8E-A75D-261BFF9E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34" y="3837053"/>
            <a:ext cx="362527" cy="3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1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3F67-92B0-6CD8-B0C2-81B148A0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643139"/>
          </a:xfrm>
        </p:spPr>
        <p:txBody>
          <a:bodyPr anchor="t">
            <a:normAutofit fontScale="90000"/>
          </a:bodyPr>
          <a:lstStyle/>
          <a:p>
            <a:r>
              <a:rPr lang="en-CA" sz="3600" dirty="0">
                <a:solidFill>
                  <a:schemeClr val="tx2"/>
                </a:solidFill>
              </a:rPr>
              <a:t>Model training dataset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419437-8F5C-15F3-6652-2D848842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5" y="5274457"/>
            <a:ext cx="4897337" cy="1154918"/>
          </a:xfrm>
        </p:spPr>
      </p:pic>
      <p:pic>
        <p:nvPicPr>
          <p:cNvPr id="5" name="Content Placeholder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54F841F5-9E14-B76F-09FA-1BBF5106C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"/>
          <a:stretch/>
        </p:blipFill>
        <p:spPr>
          <a:xfrm>
            <a:off x="6062235" y="514350"/>
            <a:ext cx="5396339" cy="5657850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38EA5F0-3826-3126-34E4-232EBBE0D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79" y="1869066"/>
            <a:ext cx="3579871" cy="28116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CADAFC-F702-A433-84DA-F412130275D0}"/>
              </a:ext>
            </a:extLst>
          </p:cNvPr>
          <p:cNvSpPr txBox="1"/>
          <p:nvPr/>
        </p:nvSpPr>
        <p:spPr>
          <a:xfrm>
            <a:off x="847725" y="4752975"/>
            <a:ext cx="38843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Figure 5: New feature, shown in red, for randomized data collection</a:t>
            </a:r>
            <a:endParaRPr lang="en-CA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0D603-1147-6782-C01E-6ACF7886879A}"/>
              </a:ext>
            </a:extLst>
          </p:cNvPr>
          <p:cNvSpPr txBox="1"/>
          <p:nvPr/>
        </p:nvSpPr>
        <p:spPr>
          <a:xfrm>
            <a:off x="7286625" y="6191250"/>
            <a:ext cx="3401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 4: Training data distribution on x, y and z axis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23770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92052-3824-CB83-0CFD-915BA978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Result: Model Architecture Tunning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aph of a number of layers&#10;&#10;Description automatically generated">
            <a:extLst>
              <a:ext uri="{FF2B5EF4-FFF2-40B4-BE49-F238E27FC236}">
                <a16:creationId xmlns:a16="http://schemas.microsoft.com/office/drawing/2014/main" id="{82A36E9B-1DD9-FC4C-0A11-BE35AD036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98" y="2479589"/>
            <a:ext cx="5612970" cy="3331275"/>
          </a:xfrm>
          <a:prstGeom prst="rect">
            <a:avLst/>
          </a:prstGeom>
        </p:spPr>
      </p:pic>
      <p:pic>
        <p:nvPicPr>
          <p:cNvPr id="16" name="Picture 15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EF9D9954-9EFD-985B-CD67-0072AF568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647" y="2479592"/>
            <a:ext cx="5563266" cy="330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5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9B8AC-E845-19AB-ADF1-7FDEDA5C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Hyper-parameter tunning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a graph showing a number of sizes and a number of sizes&#10;&#10;Description automatically generated with medium confidence">
            <a:extLst>
              <a:ext uri="{FF2B5EF4-FFF2-40B4-BE49-F238E27FC236}">
                <a16:creationId xmlns:a16="http://schemas.microsoft.com/office/drawing/2014/main" id="{BB075D08-9319-BC8C-512D-A07DF8060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782237"/>
            <a:ext cx="5614416" cy="3326541"/>
          </a:xfrm>
          <a:prstGeom prst="rect">
            <a:avLst/>
          </a:prstGeom>
        </p:spPr>
      </p:pic>
      <p:pic>
        <p:nvPicPr>
          <p:cNvPr id="9" name="Picture 8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0617A1A4-67B9-78B0-6B9E-3E00B4E19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782237"/>
            <a:ext cx="5614416" cy="33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33362-D302-16C3-88C0-4591A8EE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394" y="3346703"/>
            <a:ext cx="1948870" cy="87514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Cont’d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with blue and black squares&#10;&#10;Description automatically generated">
            <a:extLst>
              <a:ext uri="{FF2B5EF4-FFF2-40B4-BE49-F238E27FC236}">
                <a16:creationId xmlns:a16="http://schemas.microsoft.com/office/drawing/2014/main" id="{B3C32AB9-3217-A211-CA3B-EBFA0C6DF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77954"/>
            <a:ext cx="7214616" cy="427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28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65C11-C654-BB46-52A0-240CC857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chemeClr val="tx2"/>
                </a:solidFill>
              </a:rPr>
              <a:t>Optimized model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53740A12-D39E-6B16-AF8D-DA866DB6C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Consolas" panose="020B0609020204030204" pitchFamily="49" charset="0"/>
              </a:rPr>
              <a:t>Performance: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Consolas" panose="020B0609020204030204" pitchFamily="49" charset="0"/>
              </a:rPr>
              <a:t>Inference time for 100 predictions: 0.001000 seconds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2AC92D-2F69-1DAC-C5F4-27964D6A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08" y="2421924"/>
            <a:ext cx="4567564" cy="371114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12E044-ACDE-585F-3543-CD8D34BB9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435107"/>
              </p:ext>
            </p:extLst>
          </p:nvPr>
        </p:nvGraphicFramePr>
        <p:xfrm>
          <a:off x="6748693" y="2421924"/>
          <a:ext cx="4066587" cy="371114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836505">
                  <a:extLst>
                    <a:ext uri="{9D8B030D-6E8A-4147-A177-3AD203B41FA5}">
                      <a16:colId xmlns:a16="http://schemas.microsoft.com/office/drawing/2014/main" val="4085290834"/>
                    </a:ext>
                  </a:extLst>
                </a:gridCol>
                <a:gridCol w="1230082">
                  <a:extLst>
                    <a:ext uri="{9D8B030D-6E8A-4147-A177-3AD203B41FA5}">
                      <a16:colId xmlns:a16="http://schemas.microsoft.com/office/drawing/2014/main" val="334706746"/>
                    </a:ext>
                  </a:extLst>
                </a:gridCol>
              </a:tblGrid>
              <a:tr h="28547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Model architecture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40617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Hdden layers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6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910716610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Nodes per layer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447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1326856785"/>
                  </a:ext>
                </a:extLst>
              </a:tr>
              <a:tr h="28547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Parameter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145603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 dirty="0">
                          <a:effectLst/>
                        </a:rPr>
                        <a:t>Learning rate</a:t>
                      </a:r>
                      <a:endParaRPr lang="en-CA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0.00043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3605790432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Activation function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ReLU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51205712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Batch size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192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1263835947"/>
                  </a:ext>
                </a:extLst>
              </a:tr>
              <a:tr h="28547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Test Metrics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493061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RMSE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0.71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902115307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 MAE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0.38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2124635422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MAPE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 dirty="0">
                          <a:effectLst/>
                        </a:rPr>
                        <a:t>3.94%</a:t>
                      </a:r>
                      <a:endParaRPr lang="en-CA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1825350811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pitch angle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2.18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2915567032"/>
                  </a:ext>
                </a:extLst>
              </a:tr>
              <a:tr h="28547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>
                          <a:effectLst/>
                        </a:rPr>
                        <a:t>yaw angle</a:t>
                      </a:r>
                      <a:endParaRPr lang="en-CA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500" u="none" strike="noStrike" dirty="0">
                          <a:effectLst/>
                        </a:rPr>
                        <a:t>3.69</a:t>
                      </a:r>
                      <a:endParaRPr lang="en-CA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269" marR="10269" marT="10269" marB="0" anchor="b"/>
                </a:tc>
                <a:extLst>
                  <a:ext uri="{0D108BD9-81ED-4DB2-BD59-A6C34878D82A}">
                    <a16:rowId xmlns:a16="http://schemas.microsoft.com/office/drawing/2014/main" val="237759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946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0E0A-A00A-827C-5B39-BE7DBEBF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000" dirty="0">
                <a:solidFill>
                  <a:schemeClr val="tx2"/>
                </a:solidFill>
              </a:rPr>
              <a:t>Model Prediction vs Measurement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850D6-A892-B4CE-4701-E24475EC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544" y="1982878"/>
            <a:ext cx="4496967" cy="3934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40D351-8E7C-E9E4-B142-EDC78642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591" y="1911095"/>
            <a:ext cx="4520646" cy="3945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7DD44F-16F7-0FA7-F81C-52971D7DA82B}"/>
              </a:ext>
            </a:extLst>
          </p:cNvPr>
          <p:cNvSpPr txBox="1"/>
          <p:nvPr/>
        </p:nvSpPr>
        <p:spPr>
          <a:xfrm>
            <a:off x="2325790" y="1616980"/>
            <a:ext cx="2207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FFN model prediction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E9672-99EB-A3B7-CA2D-C60E6DF47F28}"/>
              </a:ext>
            </a:extLst>
          </p:cNvPr>
          <p:cNvSpPr txBox="1"/>
          <p:nvPr/>
        </p:nvSpPr>
        <p:spPr>
          <a:xfrm>
            <a:off x="7856296" y="1623370"/>
            <a:ext cx="197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Measurement data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5056A82-BF00-A208-8FB6-699C2FF49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68704"/>
              </p:ext>
            </p:extLst>
          </p:nvPr>
        </p:nvGraphicFramePr>
        <p:xfrm>
          <a:off x="0" y="5577840"/>
          <a:ext cx="14351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94907028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10390188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 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MAE [mT]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94136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0.70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3258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0.80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2419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</a:t>
                      </a:r>
                      <a:endParaRPr lang="en-CA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1.59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05380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Norm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1.43</a:t>
                      </a:r>
                      <a:endParaRPr lang="en-CA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82117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Φ (Pitch)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6.24</a:t>
                      </a:r>
                      <a:r>
                        <a:rPr lang="en-CA" sz="1100" u="none" strike="noStrike" baseline="30000" dirty="0">
                          <a:effectLst/>
                        </a:rPr>
                        <a:t>o</a:t>
                      </a:r>
                      <a:endParaRPr lang="en-CA" sz="11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35937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100" u="none" strike="noStrike" dirty="0">
                          <a:effectLst/>
                        </a:rPr>
                        <a:t>Θ</a:t>
                      </a:r>
                      <a:r>
                        <a:rPr lang="en-CA" sz="1100" u="none" strike="noStrike" dirty="0">
                          <a:effectLst/>
                        </a:rPr>
                        <a:t> (yaw)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9.58</a:t>
                      </a:r>
                      <a:r>
                        <a:rPr lang="en-CA" sz="1100" u="none" strike="noStrike" baseline="30000" dirty="0">
                          <a:effectLst/>
                        </a:rPr>
                        <a:t>o</a:t>
                      </a:r>
                      <a:endParaRPr lang="en-CA" sz="11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37085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1B5C7A-C511-C836-6BEA-BD545BBFB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502805"/>
              </p:ext>
            </p:extLst>
          </p:nvPr>
        </p:nvGraphicFramePr>
        <p:xfrm>
          <a:off x="3144012" y="6315012"/>
          <a:ext cx="60579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2644881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535572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0592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98117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1120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87301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801082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47237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044218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1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2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3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7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8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592918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Current setting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 dirty="0">
                          <a:effectLst/>
                        </a:rPr>
                        <a:t>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20586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4BB800-7EDC-B241-14E6-E0FD5E6EB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580600"/>
              </p:ext>
            </p:extLst>
          </p:nvPr>
        </p:nvGraphicFramePr>
        <p:xfrm>
          <a:off x="1447800" y="5572125"/>
          <a:ext cx="8255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968574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MAPE (%)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62862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75.0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002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457.6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84283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49.6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8978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17.3</a:t>
                      </a:r>
                      <a:endParaRPr lang="en-CA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9279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08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A566-0803-887C-0F14-9C8DD42D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000" dirty="0">
                <a:solidFill>
                  <a:schemeClr val="tx2"/>
                </a:solidFill>
              </a:rPr>
              <a:t>FFN vs Dipole vs Super-positioning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2744F-2A0A-CBD1-A925-4DAB72986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8" y="2070274"/>
            <a:ext cx="10952703" cy="383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2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D0A7-CA56-8F07-B106-5F9D062A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000" dirty="0">
                <a:solidFill>
                  <a:schemeClr val="tx2"/>
                </a:solidFill>
              </a:rPr>
              <a:t>Measured vs command Current</a:t>
            </a:r>
          </a:p>
        </p:txBody>
      </p:sp>
      <p:pic>
        <p:nvPicPr>
          <p:cNvPr id="5" name="Content Placeholder 4" descr="A group of blue lines&#10;&#10;Description automatically generated">
            <a:extLst>
              <a:ext uri="{FF2B5EF4-FFF2-40B4-BE49-F238E27FC236}">
                <a16:creationId xmlns:a16="http://schemas.microsoft.com/office/drawing/2014/main" id="{4FACB74A-91E2-2F7A-6C52-85F762ABE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9"/>
          <a:stretch/>
        </p:blipFill>
        <p:spPr>
          <a:xfrm>
            <a:off x="353993" y="2254249"/>
            <a:ext cx="5465782" cy="3301509"/>
          </a:xfrm>
        </p:spPr>
      </p:pic>
      <p:pic>
        <p:nvPicPr>
          <p:cNvPr id="6" name="Content Placeholder 4" descr="A group of blue lines&#10;&#10;Description automatically generated">
            <a:extLst>
              <a:ext uri="{FF2B5EF4-FFF2-40B4-BE49-F238E27FC236}">
                <a16:creationId xmlns:a16="http://schemas.microsoft.com/office/drawing/2014/main" id="{DA896C27-30A6-A95C-C1EC-164E24C8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44"/>
          <a:stretch/>
        </p:blipFill>
        <p:spPr>
          <a:xfrm>
            <a:off x="6162676" y="2209801"/>
            <a:ext cx="5627706" cy="3416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687BE8-778F-14C2-D356-7C5EE4D5C2B1}"/>
              </a:ext>
            </a:extLst>
          </p:cNvPr>
          <p:cNvSpPr txBox="1"/>
          <p:nvPr/>
        </p:nvSpPr>
        <p:spPr>
          <a:xfrm>
            <a:off x="2861187" y="6027174"/>
            <a:ext cx="5394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Cross-magnetization effect or faulty current controller? </a:t>
            </a:r>
          </a:p>
          <a:p>
            <a:endParaRPr lang="en-CA" dirty="0"/>
          </a:p>
        </p:txBody>
      </p:sp>
      <p:pic>
        <p:nvPicPr>
          <p:cNvPr id="11" name="Picture 10" descr="A yellow face with a finger pointing to it&#10;&#10;Description automatically generated">
            <a:extLst>
              <a:ext uri="{FF2B5EF4-FFF2-40B4-BE49-F238E27FC236}">
                <a16:creationId xmlns:a16="http://schemas.microsoft.com/office/drawing/2014/main" id="{D67CD62B-6EA3-98FC-785C-E5101930D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8311895" y="5912529"/>
            <a:ext cx="476569" cy="4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7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AFD-3241-72D9-579E-D0192EDD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000" dirty="0">
                <a:solidFill>
                  <a:schemeClr val="tx2"/>
                </a:solidFill>
              </a:rPr>
              <a:t>Measured Current model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521B34-4C55-AAAD-F7AB-EA1FF7CE5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31084"/>
              </p:ext>
            </p:extLst>
          </p:nvPr>
        </p:nvGraphicFramePr>
        <p:xfrm>
          <a:off x="0" y="1671041"/>
          <a:ext cx="20193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40101658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17408773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Model architecture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3189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Hdden layers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2513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Nodes per layer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447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8832782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Parameter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3892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Learning rate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</a:rPr>
                        <a:t>0.00043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0997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Activation function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ReLU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79922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Batch size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</a:rPr>
                        <a:t>192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4680053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</a:rPr>
                        <a:t>Test Metrics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0716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</a:rPr>
                        <a:t>RMSE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0.86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48048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 MAE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0.63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297582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>
                          <a:effectLst/>
                        </a:rPr>
                        <a:t>MAPE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100" u="none" strike="noStrike" dirty="0">
                          <a:effectLst/>
                        </a:rPr>
                        <a:t>11.80%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1903793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84B9B91-270D-A515-7196-B220A03F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056" y="1953067"/>
            <a:ext cx="4179448" cy="3648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6A83B6-A8BA-949F-B023-DAF4AED28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169" y="1878103"/>
            <a:ext cx="4243511" cy="37130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D287A1-3983-7DAA-C446-120AA65BB9E8}"/>
              </a:ext>
            </a:extLst>
          </p:cNvPr>
          <p:cNvSpPr txBox="1"/>
          <p:nvPr/>
        </p:nvSpPr>
        <p:spPr>
          <a:xfrm>
            <a:off x="2857500" y="1552575"/>
            <a:ext cx="19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msdCurrent</a:t>
            </a:r>
            <a:r>
              <a:rPr lang="en-CA" dirty="0"/>
              <a:t>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EEDD0-9F8B-190F-C898-2FEE6B69BB69}"/>
              </a:ext>
            </a:extLst>
          </p:cNvPr>
          <p:cNvSpPr txBox="1"/>
          <p:nvPr/>
        </p:nvSpPr>
        <p:spPr>
          <a:xfrm>
            <a:off x="8105775" y="1485900"/>
            <a:ext cx="160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Measured data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367C023-5EEE-6C33-71B9-8F6440793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837556"/>
              </p:ext>
            </p:extLst>
          </p:nvPr>
        </p:nvGraphicFramePr>
        <p:xfrm>
          <a:off x="0" y="5577840"/>
          <a:ext cx="14351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94907028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10390188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 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MAE [mT]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94136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2.768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3258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3.49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2419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CA" sz="11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</a:t>
                      </a:r>
                      <a:endParaRPr lang="en-CA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05380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Norm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82117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Φ (Pitch)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50.30</a:t>
                      </a:r>
                      <a:r>
                        <a:rPr lang="en-CA" sz="1100" u="none" strike="noStrike" baseline="30000" dirty="0">
                          <a:effectLst/>
                        </a:rPr>
                        <a:t>o</a:t>
                      </a:r>
                      <a:endParaRPr lang="en-CA" sz="11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35937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100" u="none" strike="noStrike" dirty="0">
                          <a:effectLst/>
                        </a:rPr>
                        <a:t>Θ</a:t>
                      </a:r>
                      <a:r>
                        <a:rPr lang="en-CA" sz="1100" u="none" strike="noStrike" dirty="0">
                          <a:effectLst/>
                        </a:rPr>
                        <a:t> (yaw)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 dirty="0">
                          <a:effectLst/>
                        </a:rPr>
                        <a:t>53.97</a:t>
                      </a:r>
                      <a:r>
                        <a:rPr lang="en-CA" sz="1100" u="none" strike="noStrike" baseline="30000" dirty="0">
                          <a:effectLst/>
                        </a:rPr>
                        <a:t>o</a:t>
                      </a:r>
                      <a:endParaRPr lang="en-CA" sz="11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370859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E633A2-2260-56D6-50D6-60568F44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56229"/>
              </p:ext>
            </p:extLst>
          </p:nvPr>
        </p:nvGraphicFramePr>
        <p:xfrm>
          <a:off x="1447800" y="5572125"/>
          <a:ext cx="8255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968574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MAPE (%)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62862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002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84283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8978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44.6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927903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137DB8-6B01-F6AD-0CD6-E1FD5509F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67005"/>
              </p:ext>
            </p:extLst>
          </p:nvPr>
        </p:nvGraphicFramePr>
        <p:xfrm>
          <a:off x="3445462" y="6134142"/>
          <a:ext cx="60579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2644881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535572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0592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98117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1120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87301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801082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47237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044218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1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2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3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4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6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7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Coil 8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592918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CA" sz="1100" u="none" strike="noStrike">
                          <a:effectLst/>
                        </a:rPr>
                        <a:t>Current setting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0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>
                          <a:effectLst/>
                        </a:rPr>
                        <a:t>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100" u="none" strike="noStrike" dirty="0">
                          <a:effectLst/>
                        </a:rPr>
                        <a:t>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205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59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CB84C1-258B-F61B-B764-1F7B5621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CA" sz="3600">
                <a:solidFill>
                  <a:schemeClr val="tx2"/>
                </a:solidFill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3F2C-D965-EFAC-1983-4EE3825A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CA" sz="1800">
                <a:solidFill>
                  <a:schemeClr val="tx2"/>
                </a:solidFill>
              </a:rPr>
              <a:t>In this project, a data-driven model has been successfully developed with a competitive performance for real-time control.</a:t>
            </a:r>
          </a:p>
          <a:p>
            <a:r>
              <a:rPr lang="en-CA" sz="1800">
                <a:solidFill>
                  <a:schemeClr val="tx2"/>
                </a:solidFill>
              </a:rPr>
              <a:t>Further model training with varied input-current data should be considered for improved prediction accuracy.</a:t>
            </a:r>
          </a:p>
          <a:p>
            <a:r>
              <a:rPr lang="en-US" sz="1800">
                <a:solidFill>
                  <a:schemeClr val="tx2"/>
                </a:solidFill>
              </a:rPr>
              <a:t>Further investigation is needed to determine the relation between measured and command current. Some questions that might be worth considering 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What caused the observed uncorrelated relation? Cross-magnetization effect or faulty current controller?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Is the current controller counteracting the cross-magnetization effect?</a:t>
            </a:r>
          </a:p>
          <a:p>
            <a:r>
              <a:rPr lang="en-CA" sz="1800">
                <a:solidFill>
                  <a:schemeClr val="tx2"/>
                </a:solidFill>
              </a:rPr>
              <a:t>Development of an inverse model for control</a:t>
            </a:r>
          </a:p>
          <a:p>
            <a:endParaRPr lang="en-CA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759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6554AF-94DB-875D-4985-3435DD77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r>
              <a:rPr lang="en-US" sz="5200">
                <a:solidFill>
                  <a:schemeClr val="tx2"/>
                </a:solidFill>
              </a:rPr>
              <a:t>!</a:t>
            </a:r>
            <a:br>
              <a:rPr lang="en-US" sz="5200">
                <a:solidFill>
                  <a:schemeClr val="tx2"/>
                </a:solidFill>
              </a:rPr>
            </a:br>
            <a:r>
              <a:rPr lang="en-US" sz="2800">
                <a:solidFill>
                  <a:schemeClr val="tx2"/>
                </a:solidFill>
              </a:rPr>
              <a:t>Questions?</a:t>
            </a: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123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1982</TotalTime>
  <Words>784</Words>
  <Application>Microsoft Office PowerPoint</Application>
  <PresentationFormat>Widescreen</PresentationFormat>
  <Paragraphs>213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Calibri</vt:lpstr>
      <vt:lpstr>Calibri Light</vt:lpstr>
      <vt:lpstr>Consolas</vt:lpstr>
      <vt:lpstr>Office 2013 - 2022 Theme</vt:lpstr>
      <vt:lpstr>Data-driven Modelling  of a multi-coil  Magnetic Actuation System</vt:lpstr>
      <vt:lpstr>Outline</vt:lpstr>
      <vt:lpstr>Introduction</vt:lpstr>
      <vt:lpstr>Background</vt:lpstr>
      <vt:lpstr>Literature review</vt:lpstr>
      <vt:lpstr>Approach</vt:lpstr>
      <vt:lpstr>Model training dataset</vt:lpstr>
      <vt:lpstr>Result: Model Architecture Tunning</vt:lpstr>
      <vt:lpstr>Hyper-parameter tunning</vt:lpstr>
      <vt:lpstr>Cont’d</vt:lpstr>
      <vt:lpstr>Optimized model</vt:lpstr>
      <vt:lpstr>Model Prediction vs Measurement</vt:lpstr>
      <vt:lpstr>FFN vs Dipole vs Super-positioning</vt:lpstr>
      <vt:lpstr>Measured vs command Current</vt:lpstr>
      <vt:lpstr>Measured Current model</vt:lpstr>
      <vt:lpstr>Conclusion and Future work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Gediyon Moges Girma</dc:creator>
  <cp:lastModifiedBy>Gediyon Moges Girma</cp:lastModifiedBy>
  <cp:revision>3</cp:revision>
  <dcterms:created xsi:type="dcterms:W3CDTF">2024-12-17T09:09:18Z</dcterms:created>
  <dcterms:modified xsi:type="dcterms:W3CDTF">2024-12-18T18:11:30Z</dcterms:modified>
</cp:coreProperties>
</file>